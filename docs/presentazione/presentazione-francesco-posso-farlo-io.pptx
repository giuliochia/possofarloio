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12192000"/>
  <p:embeddedFontLst>
    <p:embeddedFont>
      <p:font typeface="Play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bold.fntdata"/><Relationship Id="rId14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00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0E"/>
          </a:solidFill>
          <a:ln cap="flat" cmpd="sng" w="12700">
            <a:solidFill>
              <a:srgbClr val="1210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989320" y="0"/>
            <a:ext cx="109728" cy="6858000"/>
          </a:xfrm>
          <a:prstGeom prst="rect">
            <a:avLst/>
          </a:prstGeom>
          <a:solidFill>
            <a:srgbClr val="D86B1F"/>
          </a:solidFill>
          <a:ln cap="flat" cmpd="sng" w="12700">
            <a:solidFill>
              <a:srgbClr val="D86B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58368" y="640080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16C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E8A16C"/>
                </a:solidFill>
                <a:latin typeface="Arial"/>
                <a:ea typeface="Arial"/>
                <a:cs typeface="Arial"/>
                <a:sym typeface="Arial"/>
              </a:rPr>
              <a:t>CONCEPT PROJECT #001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58368" y="1170432"/>
            <a:ext cx="4800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Play"/>
              <a:buNone/>
            </a:pPr>
            <a:r>
              <a:rPr b="1" i="0" lang="en-US" sz="37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Posso Farlo Io</a:t>
            </a:r>
            <a:endParaRPr b="0" i="0" sz="3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58368" y="192024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CFC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8CFC6"/>
                </a:solidFill>
                <a:latin typeface="Arial"/>
                <a:ea typeface="Arial"/>
                <a:cs typeface="Arial"/>
                <a:sym typeface="Arial"/>
              </a:rPr>
              <a:t>Presentazione del concept digitale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58368" y="2697480"/>
            <a:ext cx="47548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8D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1E8DF"/>
                </a:solidFill>
                <a:latin typeface="Arial"/>
                <a:ea typeface="Arial"/>
                <a:cs typeface="Arial"/>
                <a:sym typeface="Arial"/>
              </a:rPr>
              <a:t>Una proposta dimostrativa per mostrare come migliorare chiarezza, fiducia e contatto commerciale.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" name="Google Shape;22;p3"/>
          <p:cNvCxnSpPr/>
          <p:nvPr/>
        </p:nvCxnSpPr>
        <p:spPr>
          <a:xfrm>
            <a:off x="658368" y="4160520"/>
            <a:ext cx="4023360" cy="0"/>
          </a:xfrm>
          <a:prstGeom prst="straightConnector1">
            <a:avLst/>
          </a:prstGeom>
          <a:noFill/>
          <a:ln cap="flat" cmpd="sng" w="12700">
            <a:solidFill>
              <a:srgbClr val="5C52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3"/>
          <p:cNvSpPr/>
          <p:nvPr/>
        </p:nvSpPr>
        <p:spPr>
          <a:xfrm>
            <a:off x="658368" y="4434840"/>
            <a:ext cx="4023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CFC6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D8CFC6"/>
                </a:solidFill>
                <a:latin typeface="Arial"/>
                <a:ea typeface="Arial"/>
                <a:cs typeface="Arial"/>
                <a:sym typeface="Arial"/>
              </a:rPr>
              <a:t>The North Project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CFC6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D8CFC6"/>
                </a:solidFill>
                <a:latin typeface="Arial"/>
                <a:ea typeface="Arial"/>
                <a:cs typeface="Arial"/>
                <a:sym typeface="Arial"/>
              </a:rPr>
              <a:t>Relazioni prima delle soluzioni.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10817352" y="6236208"/>
            <a:ext cx="731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96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968B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" name="Google Shape;25;p3" title="concept-001-desktop-hero.png"/>
          <p:cNvPicPr preferRelativeResize="0"/>
          <p:nvPr/>
        </p:nvPicPr>
        <p:blipFill rotWithShape="1">
          <a:blip r:embed="rId3">
            <a:alphaModFix/>
          </a:blip>
          <a:srcRect b="0" l="2043" r="2024" t="0"/>
          <a:stretch/>
        </p:blipFill>
        <p:spPr>
          <a:xfrm>
            <a:off x="6498350" y="1211350"/>
            <a:ext cx="5261400" cy="40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E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cap="flat" cmpd="sng" w="12700">
            <a:solidFill>
              <a:srgbClr val="F7F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566928" y="384048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6B1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D86B1F"/>
                </a:solidFill>
                <a:latin typeface="Arial"/>
                <a:ea typeface="Arial"/>
                <a:cs typeface="Arial"/>
                <a:sym typeface="Arial"/>
              </a:rPr>
              <a:t>PUNTO DI PARTENZA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66928" y="749808"/>
            <a:ext cx="56235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E1B18"/>
                </a:solidFill>
                <a:latin typeface="Play"/>
                <a:ea typeface="Play"/>
                <a:cs typeface="Play"/>
                <a:sym typeface="Play"/>
              </a:rPr>
              <a:t>Il problema non è “avere un sito”. È farsi capire subito.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66928" y="1664208"/>
            <a:ext cx="5394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258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6C6258"/>
                </a:solidFill>
                <a:latin typeface="Arial"/>
                <a:ea typeface="Arial"/>
                <a:cs typeface="Arial"/>
                <a:sym typeface="Arial"/>
              </a:rPr>
              <a:t>Il concept nasce per rendere più chiara l’offerta, più credibile il referente e più semplice il primo contatto.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58368" y="2395728"/>
            <a:ext cx="5074920" cy="768096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12700">
            <a:solidFill>
              <a:srgbClr val="E0D5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877824" y="2560320"/>
            <a:ext cx="3474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6B1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86B1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353312" y="2505456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1B18"/>
                </a:solidFill>
                <a:latin typeface="Arial"/>
                <a:ea typeface="Arial"/>
                <a:cs typeface="Arial"/>
                <a:sym typeface="Arial"/>
              </a:rPr>
              <a:t>Offerta generica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353312" y="2779776"/>
            <a:ext cx="39502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25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C6258"/>
                </a:solidFill>
                <a:latin typeface="Arial"/>
                <a:ea typeface="Arial"/>
                <a:cs typeface="Arial"/>
                <a:sym typeface="Arial"/>
              </a:rPr>
              <a:t>I servizi non devono sembrare un elenco casuale di lavorazioni.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58368" y="3447288"/>
            <a:ext cx="5074920" cy="768096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12700">
            <a:solidFill>
              <a:srgbClr val="E0D5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877824" y="3611880"/>
            <a:ext cx="3474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6B1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86B1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353312" y="3557016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1B18"/>
                </a:solidFill>
                <a:latin typeface="Arial"/>
                <a:ea typeface="Arial"/>
                <a:cs typeface="Arial"/>
                <a:sym typeface="Arial"/>
              </a:rPr>
              <a:t>Fiducia non esplicitata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353312" y="3831336"/>
            <a:ext cx="39502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25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C6258"/>
                </a:solidFill>
                <a:latin typeface="Arial"/>
                <a:ea typeface="Arial"/>
                <a:cs typeface="Arial"/>
                <a:sym typeface="Arial"/>
              </a:rPr>
              <a:t>Esperienza, presenza locale e referente unico vanno comunicati meglio.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58368" y="4498848"/>
            <a:ext cx="5074920" cy="768096"/>
          </a:xfrm>
          <a:prstGeom prst="roundRect">
            <a:avLst>
              <a:gd fmla="val 9524" name="adj"/>
            </a:avLst>
          </a:prstGeom>
          <a:solidFill>
            <a:srgbClr val="FFFFFF"/>
          </a:solidFill>
          <a:ln cap="flat" cmpd="sng" w="12700">
            <a:solidFill>
              <a:srgbClr val="E0D5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877824" y="4663440"/>
            <a:ext cx="3474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6B1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86B1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353312" y="4608576"/>
            <a:ext cx="1920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1B18"/>
                </a:solidFill>
                <a:latin typeface="Arial"/>
                <a:ea typeface="Arial"/>
                <a:cs typeface="Arial"/>
                <a:sym typeface="Arial"/>
              </a:rPr>
              <a:t>Contatto poco guidato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353312" y="4882896"/>
            <a:ext cx="39502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25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C6258"/>
                </a:solidFill>
                <a:latin typeface="Arial"/>
                <a:ea typeface="Arial"/>
                <a:cs typeface="Arial"/>
                <a:sym typeface="Arial"/>
              </a:rPr>
              <a:t>Il cliente deve poter spiegare subito cosa gli serve, senza perdersi.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123475" y="1928175"/>
            <a:ext cx="5799600" cy="3513600"/>
          </a:xfrm>
          <a:prstGeom prst="roundRect">
            <a:avLst>
              <a:gd fmla="val 1521" name="adj"/>
            </a:avLst>
          </a:prstGeom>
          <a:solidFill>
            <a:srgbClr val="FFFFFF"/>
          </a:solidFill>
          <a:ln cap="flat" cmpd="sng" w="14675">
            <a:solidFill>
              <a:srgbClr val="E0D5C8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7605" rotWithShape="0" algn="bl" dir="2700000" dist="58684">
              <a:srgbClr val="000000">
                <a:alpha val="10980"/>
              </a:srgbClr>
            </a:outerShdw>
          </a:effectLst>
        </p:spPr>
        <p:txBody>
          <a:bodyPr anchorCtr="0" anchor="ctr" bIns="105625" lIns="105625" spcFirstLastPara="1" rIns="105625" wrap="square" tIns="105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17"/>
          </a:p>
        </p:txBody>
      </p:sp>
      <p:sp>
        <p:nvSpPr>
          <p:cNvPr id="48" name="Google Shape;48;p4"/>
          <p:cNvSpPr/>
          <p:nvPr/>
        </p:nvSpPr>
        <p:spPr>
          <a:xfrm>
            <a:off x="566928" y="647395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17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8B8177"/>
                </a:solidFill>
                <a:latin typeface="Arial"/>
                <a:ea typeface="Arial"/>
                <a:cs typeface="Arial"/>
                <a:sym typeface="Arial"/>
              </a:rPr>
              <a:t>Concept Project #001 · Posso Farlo Io · 2/9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" name="Google Shape;49;p4" title="concept-001-desktop-serviz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3896" y="2034706"/>
            <a:ext cx="5556199" cy="32652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5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 cap="flat" cmpd="sng" w="12700">
            <a:solidFill>
              <a:srgbClr val="FFFB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566928" y="384048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6B1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D86B1F"/>
                </a:solidFill>
                <a:latin typeface="Arial"/>
                <a:ea typeface="Arial"/>
                <a:cs typeface="Arial"/>
                <a:sym typeface="Arial"/>
              </a:rPr>
              <a:t>SOLUZIONE PROPOSTA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66928" y="749808"/>
            <a:ext cx="57150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E1B18"/>
                </a:solidFill>
                <a:latin typeface="Play"/>
                <a:ea typeface="Play"/>
                <a:cs typeface="Play"/>
                <a:sym typeface="Play"/>
              </a:rPr>
              <a:t>Un concept centrato su chiarezza, metodo e contatto diretto.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66928" y="1627632"/>
            <a:ext cx="571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258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C6258"/>
                </a:solidFill>
                <a:latin typeface="Arial"/>
                <a:ea typeface="Arial"/>
                <a:cs typeface="Arial"/>
                <a:sym typeface="Arial"/>
              </a:rPr>
              <a:t>La pagina non vende tecnologia. Traduce esperienza e affidabilità in un percorso comprensibile per chi deve affidare un lavoro.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676656" y="2423160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6B1F"/>
              </a:buClr>
              <a:buSzPts val="2100"/>
              <a:buFont typeface="Play"/>
              <a:buNone/>
            </a:pPr>
            <a:r>
              <a:rPr b="1" i="0" lang="en-US" sz="2100" u="none" cap="none" strike="noStrike">
                <a:solidFill>
                  <a:srgbClr val="D86B1F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676656" y="2862072"/>
            <a:ext cx="1737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258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6C6258"/>
                </a:solidFill>
                <a:latin typeface="Arial"/>
                <a:ea typeface="Arial"/>
                <a:cs typeface="Arial"/>
                <a:sym typeface="Arial"/>
              </a:rPr>
              <a:t>messaggio principale forte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2514600" y="2423160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6B1F"/>
              </a:buClr>
              <a:buSzPts val="2100"/>
              <a:buFont typeface="Play"/>
              <a:buNone/>
            </a:pPr>
            <a:r>
              <a:rPr b="1" i="0" lang="en-US" sz="2100" u="none" cap="none" strike="noStrike">
                <a:solidFill>
                  <a:srgbClr val="D86B1F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2514600" y="2862072"/>
            <a:ext cx="1737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258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6C6258"/>
                </a:solidFill>
                <a:latin typeface="Arial"/>
                <a:ea typeface="Arial"/>
                <a:cs typeface="Arial"/>
                <a:sym typeface="Arial"/>
              </a:rPr>
              <a:t>fasi operative spiegate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370832" y="2423160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6B1F"/>
              </a:buClr>
              <a:buSzPts val="2100"/>
              <a:buFont typeface="Play"/>
              <a:buNone/>
            </a:pPr>
            <a:r>
              <a:rPr b="1" i="0" lang="en-US" sz="2100" u="none" cap="none" strike="noStrike">
                <a:solidFill>
                  <a:srgbClr val="D86B1F"/>
                </a:solidFill>
                <a:latin typeface="Play"/>
                <a:ea typeface="Play"/>
                <a:cs typeface="Play"/>
                <a:sym typeface="Play"/>
              </a:rPr>
              <a:t>3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370832" y="2862072"/>
            <a:ext cx="21945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258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6C6258"/>
                </a:solidFill>
                <a:latin typeface="Arial"/>
                <a:ea typeface="Arial"/>
                <a:cs typeface="Arial"/>
                <a:sym typeface="Arial"/>
              </a:rPr>
              <a:t>azioni: capire, fidarsi, contattare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76656" y="3749040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1B18"/>
                </a:solidFill>
                <a:latin typeface="Arial"/>
                <a:ea typeface="Arial"/>
                <a:cs typeface="Arial"/>
                <a:sym typeface="Arial"/>
              </a:rPr>
              <a:t>• Hero con promessa chiara e area geografica.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76656" y="4160520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1B18"/>
                </a:solidFill>
                <a:latin typeface="Arial"/>
                <a:ea typeface="Arial"/>
                <a:cs typeface="Arial"/>
                <a:sym typeface="Arial"/>
              </a:rPr>
              <a:t>• Servizi spiegati attraverso il beneficio per il cliente.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76656" y="4572000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1B18"/>
                </a:solidFill>
                <a:latin typeface="Arial"/>
                <a:ea typeface="Arial"/>
                <a:cs typeface="Arial"/>
                <a:sym typeface="Arial"/>
              </a:rPr>
              <a:t>• Form che prepara un messaggio WhatsApp più ordinato.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629400" y="630936"/>
            <a:ext cx="4855464" cy="2478024"/>
          </a:xfrm>
          <a:prstGeom prst="roundRect">
            <a:avLst>
              <a:gd fmla="val 2952" name="adj"/>
            </a:avLst>
          </a:prstGeom>
          <a:solidFill>
            <a:srgbClr val="FFFFFF"/>
          </a:solidFill>
          <a:ln cap="flat" cmpd="sng" w="12700">
            <a:solidFill>
              <a:srgbClr val="E0D5C8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0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deck_assets/servizi_short.png" id="69" name="Google Shape;6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6832" y="658368"/>
            <a:ext cx="4800600" cy="242316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5"/>
          <p:cNvSpPr/>
          <p:nvPr/>
        </p:nvSpPr>
        <p:spPr>
          <a:xfrm>
            <a:off x="6629400" y="3374136"/>
            <a:ext cx="4855464" cy="2569464"/>
          </a:xfrm>
          <a:prstGeom prst="roundRect">
            <a:avLst>
              <a:gd fmla="val 2847" name="adj"/>
            </a:avLst>
          </a:prstGeom>
          <a:solidFill>
            <a:srgbClr val="FFFFFF"/>
          </a:solidFill>
          <a:ln cap="flat" cmpd="sng" w="12700">
            <a:solidFill>
              <a:srgbClr val="E0D5C8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0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deck_assets/contatti_wide.png" id="71" name="Google Shape;7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6832" y="3401568"/>
            <a:ext cx="480060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5"/>
          <p:cNvSpPr/>
          <p:nvPr/>
        </p:nvSpPr>
        <p:spPr>
          <a:xfrm>
            <a:off x="566928" y="647395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17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8B8177"/>
                </a:solidFill>
                <a:latin typeface="Arial"/>
                <a:ea typeface="Arial"/>
                <a:cs typeface="Arial"/>
                <a:sym typeface="Arial"/>
              </a:rPr>
              <a:t>Concept Project #001 · Posso Farlo Io · 3/9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E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cap="flat" cmpd="sng" w="12700">
            <a:solidFill>
              <a:srgbClr val="F7F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566928" y="384048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6B1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D86B1F"/>
                </a:solidFill>
                <a:latin typeface="Arial"/>
                <a:ea typeface="Arial"/>
                <a:cs typeface="Arial"/>
                <a:sym typeface="Arial"/>
              </a:rPr>
              <a:t>METODO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566928" y="749808"/>
            <a:ext cx="59436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E1B18"/>
                </a:solidFill>
                <a:latin typeface="Play"/>
                <a:ea typeface="Play"/>
                <a:cs typeface="Play"/>
                <a:sym typeface="Play"/>
              </a:rPr>
              <a:t>Il percorso rende il lavoro più prevedibile.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566928" y="1572768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25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C6258"/>
                </a:solidFill>
                <a:latin typeface="Arial"/>
                <a:ea typeface="Arial"/>
                <a:cs typeface="Arial"/>
                <a:sym typeface="Arial"/>
              </a:rPr>
              <a:t>Per un cliente non tecnico, sapere cosa succede dopo il primo contatto riduce dubbi e aumenta fiducia.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630936" y="2029968"/>
            <a:ext cx="6547104" cy="3758184"/>
          </a:xfrm>
          <a:prstGeom prst="roundRect">
            <a:avLst>
              <a:gd fmla="val 1946" name="adj"/>
            </a:avLst>
          </a:prstGeom>
          <a:solidFill>
            <a:srgbClr val="FFFFFF"/>
          </a:solidFill>
          <a:ln cap="flat" cmpd="sng" w="12700">
            <a:solidFill>
              <a:srgbClr val="E0D5C8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0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deck_assets/metodo_frame.png" id="83" name="Google Shape;8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2057400"/>
            <a:ext cx="6492240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6"/>
          <p:cNvSpPr/>
          <p:nvPr/>
        </p:nvSpPr>
        <p:spPr>
          <a:xfrm>
            <a:off x="7635240" y="1078992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6B1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86B1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8028432" y="107899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1B18"/>
                </a:solidFill>
                <a:latin typeface="Arial"/>
                <a:ea typeface="Arial"/>
                <a:cs typeface="Arial"/>
                <a:sym typeface="Arial"/>
              </a:rPr>
              <a:t>Primo contatto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" name="Google Shape;86;p6"/>
          <p:cNvCxnSpPr/>
          <p:nvPr/>
        </p:nvCxnSpPr>
        <p:spPr>
          <a:xfrm>
            <a:off x="7790688" y="1444752"/>
            <a:ext cx="0" cy="347472"/>
          </a:xfrm>
          <a:prstGeom prst="straightConnector1">
            <a:avLst/>
          </a:prstGeom>
          <a:noFill/>
          <a:ln cap="flat" cmpd="sng" w="12700">
            <a:solidFill>
              <a:srgbClr val="E0D5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6"/>
          <p:cNvSpPr/>
          <p:nvPr/>
        </p:nvSpPr>
        <p:spPr>
          <a:xfrm>
            <a:off x="7635240" y="182880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6B1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86B1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8028432" y="18288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1B18"/>
                </a:solidFill>
                <a:latin typeface="Arial"/>
                <a:ea typeface="Arial"/>
                <a:cs typeface="Arial"/>
                <a:sym typeface="Arial"/>
              </a:rPr>
              <a:t>Valutazione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" name="Google Shape;89;p6"/>
          <p:cNvCxnSpPr/>
          <p:nvPr/>
        </p:nvCxnSpPr>
        <p:spPr>
          <a:xfrm>
            <a:off x="7790688" y="2194560"/>
            <a:ext cx="0" cy="347472"/>
          </a:xfrm>
          <a:prstGeom prst="straightConnector1">
            <a:avLst/>
          </a:prstGeom>
          <a:noFill/>
          <a:ln cap="flat" cmpd="sng" w="12700">
            <a:solidFill>
              <a:srgbClr val="E0D5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6"/>
          <p:cNvSpPr/>
          <p:nvPr/>
        </p:nvSpPr>
        <p:spPr>
          <a:xfrm>
            <a:off x="7635240" y="2578608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6B1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86B1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8028432" y="257860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1B18"/>
                </a:solidFill>
                <a:latin typeface="Arial"/>
                <a:ea typeface="Arial"/>
                <a:cs typeface="Arial"/>
                <a:sym typeface="Arial"/>
              </a:rPr>
              <a:t>Sopralluogo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" name="Google Shape;92;p6"/>
          <p:cNvCxnSpPr/>
          <p:nvPr/>
        </p:nvCxnSpPr>
        <p:spPr>
          <a:xfrm>
            <a:off x="7790688" y="2944368"/>
            <a:ext cx="0" cy="347472"/>
          </a:xfrm>
          <a:prstGeom prst="straightConnector1">
            <a:avLst/>
          </a:prstGeom>
          <a:noFill/>
          <a:ln cap="flat" cmpd="sng" w="12700">
            <a:solidFill>
              <a:srgbClr val="E0D5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6"/>
          <p:cNvSpPr/>
          <p:nvPr/>
        </p:nvSpPr>
        <p:spPr>
          <a:xfrm>
            <a:off x="7635240" y="3328416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6B1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86B1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8028432" y="332841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1B18"/>
                </a:solidFill>
                <a:latin typeface="Arial"/>
                <a:ea typeface="Arial"/>
                <a:cs typeface="Arial"/>
                <a:sym typeface="Arial"/>
              </a:rPr>
              <a:t>Preventivo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" name="Google Shape;95;p6"/>
          <p:cNvCxnSpPr/>
          <p:nvPr/>
        </p:nvCxnSpPr>
        <p:spPr>
          <a:xfrm>
            <a:off x="7790688" y="3694176"/>
            <a:ext cx="0" cy="347472"/>
          </a:xfrm>
          <a:prstGeom prst="straightConnector1">
            <a:avLst/>
          </a:prstGeom>
          <a:noFill/>
          <a:ln cap="flat" cmpd="sng" w="12700">
            <a:solidFill>
              <a:srgbClr val="E0D5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6"/>
          <p:cNvSpPr/>
          <p:nvPr/>
        </p:nvSpPr>
        <p:spPr>
          <a:xfrm>
            <a:off x="7635240" y="4078224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6B1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86B1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8028432" y="407822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1B18"/>
                </a:solidFill>
                <a:latin typeface="Arial"/>
                <a:ea typeface="Arial"/>
                <a:cs typeface="Arial"/>
                <a:sym typeface="Arial"/>
              </a:rPr>
              <a:t>Esecuzione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6"/>
          <p:cNvCxnSpPr/>
          <p:nvPr/>
        </p:nvCxnSpPr>
        <p:spPr>
          <a:xfrm>
            <a:off x="7790688" y="4443984"/>
            <a:ext cx="0" cy="347472"/>
          </a:xfrm>
          <a:prstGeom prst="straightConnector1">
            <a:avLst/>
          </a:prstGeom>
          <a:noFill/>
          <a:ln cap="flat" cmpd="sng" w="12700">
            <a:solidFill>
              <a:srgbClr val="E0D5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6"/>
          <p:cNvSpPr/>
          <p:nvPr/>
        </p:nvSpPr>
        <p:spPr>
          <a:xfrm>
            <a:off x="7635240" y="4828032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6B1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86B1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8028432" y="482803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1B18"/>
                </a:solidFill>
                <a:latin typeface="Arial"/>
                <a:ea typeface="Arial"/>
                <a:cs typeface="Arial"/>
                <a:sym typeface="Arial"/>
              </a:rPr>
              <a:t>Consegna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566928" y="647395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17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8B8177"/>
                </a:solidFill>
                <a:latin typeface="Arial"/>
                <a:ea typeface="Arial"/>
                <a:cs typeface="Arial"/>
                <a:sym typeface="Arial"/>
              </a:rPr>
              <a:t>Concept Project #001 · Posso Farlo Io · 4/9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8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 cap="flat" cmpd="sng" w="12700">
            <a:solidFill>
              <a:srgbClr val="FFF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566928" y="384048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6B1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D86B1F"/>
                </a:solidFill>
                <a:latin typeface="Arial"/>
                <a:ea typeface="Arial"/>
                <a:cs typeface="Arial"/>
                <a:sym typeface="Arial"/>
              </a:rPr>
              <a:t>CONTENUTI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66928" y="749808"/>
            <a:ext cx="67665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E1B18"/>
                </a:solidFill>
                <a:latin typeface="Play"/>
                <a:ea typeface="Play"/>
                <a:cs typeface="Play"/>
                <a:sym typeface="Play"/>
              </a:rPr>
              <a:t>Servizi e lavori: chiari, ma senza fingere contenuti definitivi.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566928" y="1664208"/>
            <a:ext cx="6492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258"/>
              </a:buClr>
              <a:buSzPts val="1280"/>
              <a:buFont typeface="Arial"/>
              <a:buNone/>
            </a:pPr>
            <a:r>
              <a:rPr b="0" i="0" lang="en-US" sz="1280" u="none" cap="none" strike="noStrike">
                <a:solidFill>
                  <a:srgbClr val="6C6258"/>
                </a:solidFill>
                <a:latin typeface="Arial"/>
                <a:ea typeface="Arial"/>
                <a:cs typeface="Arial"/>
                <a:sym typeface="Arial"/>
              </a:rPr>
              <a:t>Il portfolio resta dimostrativo: utile per mostrare la struttura, non per spacciare immagini generiche come lavori reali.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630936" y="2121408"/>
            <a:ext cx="5285232" cy="3209544"/>
          </a:xfrm>
          <a:prstGeom prst="roundRect">
            <a:avLst>
              <a:gd fmla="val 2279" name="adj"/>
            </a:avLst>
          </a:prstGeom>
          <a:solidFill>
            <a:srgbClr val="FFFFFF"/>
          </a:solidFill>
          <a:ln cap="flat" cmpd="sng" w="12700">
            <a:solidFill>
              <a:srgbClr val="E0D5C8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0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deck_assets/servizi_wide.png" id="112" name="Google Shape;11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2148840"/>
            <a:ext cx="5230368" cy="3154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7"/>
          <p:cNvSpPr/>
          <p:nvPr/>
        </p:nvSpPr>
        <p:spPr>
          <a:xfrm>
            <a:off x="6300216" y="2121408"/>
            <a:ext cx="5285232" cy="3209544"/>
          </a:xfrm>
          <a:prstGeom prst="roundRect">
            <a:avLst>
              <a:gd fmla="val 2279" name="adj"/>
            </a:avLst>
          </a:prstGeom>
          <a:solidFill>
            <a:srgbClr val="FFFFFF"/>
          </a:solidFill>
          <a:ln cap="flat" cmpd="sng" w="12700">
            <a:solidFill>
              <a:srgbClr val="E0D5C8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0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deck_assets/lavori_wide.png" id="114" name="Google Shape;11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7648" y="2148840"/>
            <a:ext cx="5230368" cy="3154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7"/>
          <p:cNvSpPr/>
          <p:nvPr/>
        </p:nvSpPr>
        <p:spPr>
          <a:xfrm>
            <a:off x="2011680" y="5596128"/>
            <a:ext cx="8138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5C45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335C45"/>
                </a:solidFill>
                <a:latin typeface="Arial"/>
                <a:ea typeface="Arial"/>
                <a:cs typeface="Arial"/>
                <a:sym typeface="Arial"/>
              </a:rPr>
              <a:t>Scelta corretta: comunicare subito la natura dimostrativa del portfolio.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566928" y="647395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17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8B8177"/>
                </a:solidFill>
                <a:latin typeface="Arial"/>
                <a:ea typeface="Arial"/>
                <a:cs typeface="Arial"/>
                <a:sym typeface="Arial"/>
              </a:rPr>
              <a:t>Concept Project #001 · Posso Farlo Io · 5/9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E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cap="flat" cmpd="sng" w="12700">
            <a:solidFill>
              <a:srgbClr val="F7F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"/>
          <p:cNvSpPr/>
          <p:nvPr/>
        </p:nvSpPr>
        <p:spPr>
          <a:xfrm>
            <a:off x="566928" y="384048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6B1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D86B1F"/>
                </a:solidFill>
                <a:latin typeface="Arial"/>
                <a:ea typeface="Arial"/>
                <a:cs typeface="Arial"/>
                <a:sym typeface="Arial"/>
              </a:rPr>
              <a:t>FIDUCIA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566928" y="749808"/>
            <a:ext cx="544068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E1B18"/>
                </a:solidFill>
                <a:latin typeface="Play"/>
                <a:ea typeface="Play"/>
                <a:cs typeface="Play"/>
                <a:sym typeface="Play"/>
              </a:rPr>
              <a:t>Il vero elemento distintivo è Francesco come referente unico.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566928" y="1755648"/>
            <a:ext cx="5166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258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C6258"/>
                </a:solidFill>
                <a:latin typeface="Arial"/>
                <a:ea typeface="Arial"/>
                <a:cs typeface="Arial"/>
                <a:sym typeface="Arial"/>
              </a:rPr>
              <a:t>Il concept non si limita a presentare lavori edili: mette al centro relazione, responsabilità e comunicazione diretta.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7138250" y="606925"/>
            <a:ext cx="3312900" cy="5503200"/>
          </a:xfrm>
          <a:prstGeom prst="roundRect">
            <a:avLst>
              <a:gd fmla="val 1452" name="adj"/>
            </a:avLst>
          </a:prstGeom>
          <a:solidFill>
            <a:srgbClr val="FFFFFF"/>
          </a:solidFill>
          <a:ln cap="flat" cmpd="sng" w="12700">
            <a:solidFill>
              <a:srgbClr val="E0D5C8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0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deck_assets/chi_portrait.png" id="127" name="Google Shape;127;p8"/>
          <p:cNvPicPr preferRelativeResize="0"/>
          <p:nvPr/>
        </p:nvPicPr>
        <p:blipFill rotWithShape="1">
          <a:blip r:embed="rId3">
            <a:alphaModFix/>
          </a:blip>
          <a:srcRect b="0" l="54815" r="0" t="26134"/>
          <a:stretch/>
        </p:blipFill>
        <p:spPr>
          <a:xfrm>
            <a:off x="7269800" y="736088"/>
            <a:ext cx="3062604" cy="523952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8"/>
          <p:cNvSpPr/>
          <p:nvPr/>
        </p:nvSpPr>
        <p:spPr>
          <a:xfrm>
            <a:off x="694944" y="237744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E1B18"/>
                </a:solidFill>
                <a:latin typeface="Arial"/>
                <a:ea typeface="Arial"/>
                <a:cs typeface="Arial"/>
                <a:sym typeface="Arial"/>
              </a:rPr>
              <a:t>• Una persona riconoscibile, non un marchio anonimo.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694944" y="2907792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E1B18"/>
                </a:solidFill>
                <a:latin typeface="Arial"/>
                <a:ea typeface="Arial"/>
                <a:cs typeface="Arial"/>
                <a:sym typeface="Arial"/>
              </a:rPr>
              <a:t>• Esperienza sul campo raccontata in modo semplice.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694944" y="3438144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E1B18"/>
                </a:solidFill>
                <a:latin typeface="Arial"/>
                <a:ea typeface="Arial"/>
                <a:cs typeface="Arial"/>
                <a:sym typeface="Arial"/>
              </a:rPr>
              <a:t>• Promessa realistica: ascolto, cura, responsabilità.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694944" y="4315968"/>
            <a:ext cx="4526280" cy="786384"/>
          </a:xfrm>
          <a:prstGeom prst="roundRect">
            <a:avLst>
              <a:gd fmla="val 9302" name="adj"/>
            </a:avLst>
          </a:prstGeom>
          <a:solidFill>
            <a:srgbClr val="FFFFFF"/>
          </a:solidFill>
          <a:ln cap="flat" cmpd="sng" w="12700">
            <a:solidFill>
              <a:srgbClr val="E0D5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932688" y="4498848"/>
            <a:ext cx="4069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258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C6258"/>
                </a:solidFill>
                <a:latin typeface="Arial"/>
                <a:ea typeface="Arial"/>
                <a:cs typeface="Arial"/>
                <a:sym typeface="Arial"/>
              </a:rPr>
              <a:t>Da confermare prima della pubblicazione: foto, testi personali, area operativa e servizi effettivi.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566928" y="647395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17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8B8177"/>
                </a:solidFill>
                <a:latin typeface="Arial"/>
                <a:ea typeface="Arial"/>
                <a:cs typeface="Arial"/>
                <a:sym typeface="Arial"/>
              </a:rPr>
              <a:t>Concept Project #001 · Posso Farlo Io · 6/9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00E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00E"/>
          </a:solidFill>
          <a:ln cap="flat" cmpd="sng" w="12700">
            <a:solidFill>
              <a:srgbClr val="1210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"/>
          <p:cNvSpPr/>
          <p:nvPr/>
        </p:nvSpPr>
        <p:spPr>
          <a:xfrm>
            <a:off x="566928" y="402336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16C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E8A16C"/>
                </a:solidFill>
                <a:latin typeface="Arial"/>
                <a:ea typeface="Arial"/>
                <a:cs typeface="Arial"/>
                <a:sym typeface="Arial"/>
              </a:rPr>
              <a:t>MOBILE &amp; CONTATTO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566928" y="804672"/>
            <a:ext cx="53035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Il primo contatto deve essere semplice anche da telefono.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566928" y="1627632"/>
            <a:ext cx="4892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CFC6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D8CFC6"/>
                </a:solidFill>
                <a:latin typeface="Arial"/>
                <a:ea typeface="Arial"/>
                <a:cs typeface="Arial"/>
                <a:sym typeface="Arial"/>
              </a:rPr>
              <a:t>L’esperienza mobile privilegia lettura rapida, CTA visibili e messaggio WhatsApp guidato.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6153912" y="667512"/>
            <a:ext cx="2844150" cy="4937760"/>
          </a:xfrm>
          <a:prstGeom prst="roundRect">
            <a:avLst>
              <a:gd fmla="val 5787" name="adj"/>
            </a:avLst>
          </a:prstGeom>
          <a:solidFill>
            <a:srgbClr val="171412"/>
          </a:solidFill>
          <a:ln cap="flat" cmpd="sng" w="12700">
            <a:solidFill>
              <a:srgbClr val="171412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deck_assets/mobile_hero_phone.png" id="144" name="Google Shape;14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9632" y="713232"/>
            <a:ext cx="2752710" cy="4846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9"/>
          <p:cNvSpPr/>
          <p:nvPr/>
        </p:nvSpPr>
        <p:spPr>
          <a:xfrm>
            <a:off x="9144000" y="667512"/>
            <a:ext cx="2844150" cy="4937760"/>
          </a:xfrm>
          <a:prstGeom prst="roundRect">
            <a:avLst>
              <a:gd fmla="val 5787" name="adj"/>
            </a:avLst>
          </a:prstGeom>
          <a:solidFill>
            <a:srgbClr val="171412"/>
          </a:solidFill>
          <a:ln cap="flat" cmpd="sng" w="12700">
            <a:solidFill>
              <a:srgbClr val="171412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deck_assets/mobile_contatti_phone.png" id="146" name="Google Shape;14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89720" y="713232"/>
            <a:ext cx="2752710" cy="4846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9"/>
          <p:cNvSpPr/>
          <p:nvPr/>
        </p:nvSpPr>
        <p:spPr>
          <a:xfrm>
            <a:off x="676656" y="283464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8D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1E8DF"/>
                </a:solidFill>
                <a:latin typeface="Arial"/>
                <a:ea typeface="Arial"/>
                <a:cs typeface="Arial"/>
                <a:sym typeface="Arial"/>
              </a:rPr>
              <a:t>• CTA WhatsApp già in evidenza nella hero.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676656" y="333756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8D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1E8DF"/>
                </a:solidFill>
                <a:latin typeface="Arial"/>
                <a:ea typeface="Arial"/>
                <a:cs typeface="Arial"/>
                <a:sym typeface="Arial"/>
              </a:rPr>
              <a:t>• Form pensato per preparare una richiesta più chiara.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676656" y="384048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E8D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1E8DF"/>
                </a:solidFill>
                <a:latin typeface="Arial"/>
                <a:ea typeface="Arial"/>
                <a:cs typeface="Arial"/>
                <a:sym typeface="Arial"/>
              </a:rPr>
              <a:t>• Nessun invio automatico o promessa tecnica non necessaria.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10954512" y="623620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96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968B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E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cap="flat" cmpd="sng" w="12700">
            <a:solidFill>
              <a:srgbClr val="F7F4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"/>
          <p:cNvSpPr/>
          <p:nvPr/>
        </p:nvSpPr>
        <p:spPr>
          <a:xfrm>
            <a:off x="566928" y="384048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6B1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D86B1F"/>
                </a:solidFill>
                <a:latin typeface="Arial"/>
                <a:ea typeface="Arial"/>
                <a:cs typeface="Arial"/>
                <a:sym typeface="Arial"/>
              </a:rPr>
              <a:t>VALIDAZIONE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566928" y="749808"/>
            <a:ext cx="704088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E1B18"/>
                </a:solidFill>
                <a:latin typeface="Play"/>
                <a:ea typeface="Play"/>
                <a:cs typeface="Play"/>
                <a:sym typeface="Play"/>
              </a:rPr>
              <a:t>Prima di pubblicare serve confermare ciò che oggi è solo concept.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566928" y="1719072"/>
            <a:ext cx="6400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258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C6258"/>
                </a:solidFill>
                <a:latin typeface="Arial"/>
                <a:ea typeface="Arial"/>
                <a:cs typeface="Arial"/>
                <a:sym typeface="Arial"/>
              </a:rPr>
              <a:t>Questo è il punto che protegge il cliente e rende credibile il lavoro: non si spaccia un prototipo per un sito definitivo.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713232" y="2331720"/>
            <a:ext cx="470916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12700">
            <a:solidFill>
              <a:srgbClr val="E0D5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"/>
          <p:cNvSpPr/>
          <p:nvPr/>
        </p:nvSpPr>
        <p:spPr>
          <a:xfrm>
            <a:off x="969264" y="245059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E1B18"/>
                </a:solidFill>
                <a:latin typeface="Arial"/>
                <a:ea typeface="Arial"/>
                <a:cs typeface="Arial"/>
                <a:sym typeface="Arial"/>
              </a:rPr>
              <a:t>Servizi reali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969264" y="2724912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25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C6258"/>
                </a:solidFill>
                <a:latin typeface="Arial"/>
                <a:ea typeface="Arial"/>
                <a:cs typeface="Arial"/>
                <a:sym typeface="Arial"/>
              </a:rPr>
              <a:t>Quali lavori includere e quali escludere.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713232" y="3300984"/>
            <a:ext cx="470916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12700">
            <a:solidFill>
              <a:srgbClr val="E0D5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"/>
          <p:cNvSpPr/>
          <p:nvPr/>
        </p:nvSpPr>
        <p:spPr>
          <a:xfrm>
            <a:off x="969264" y="3419856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E1B18"/>
                </a:solidFill>
                <a:latin typeface="Arial"/>
                <a:ea typeface="Arial"/>
                <a:cs typeface="Arial"/>
                <a:sym typeface="Arial"/>
              </a:rPr>
              <a:t>Foto autentiche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969264" y="3694176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25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C6258"/>
                </a:solidFill>
                <a:latin typeface="Arial"/>
                <a:ea typeface="Arial"/>
                <a:cs typeface="Arial"/>
                <a:sym typeface="Arial"/>
              </a:rPr>
              <a:t>Sostituire gli esempi grafici con lavori verificati.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713232" y="4270248"/>
            <a:ext cx="470916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12700">
            <a:solidFill>
              <a:srgbClr val="E0D5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"/>
          <p:cNvSpPr/>
          <p:nvPr/>
        </p:nvSpPr>
        <p:spPr>
          <a:xfrm>
            <a:off x="969264" y="438912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E1B18"/>
                </a:solidFill>
                <a:latin typeface="Arial"/>
                <a:ea typeface="Arial"/>
                <a:cs typeface="Arial"/>
                <a:sym typeface="Arial"/>
              </a:rPr>
              <a:t>Recapiti e zona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969264" y="4663440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25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C6258"/>
                </a:solidFill>
                <a:latin typeface="Arial"/>
                <a:ea typeface="Arial"/>
                <a:cs typeface="Arial"/>
                <a:sym typeface="Arial"/>
              </a:rPr>
              <a:t>Confermare telefono, comuni serviti e disponibilità.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6108192" y="2331720"/>
            <a:ext cx="470916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12700">
            <a:solidFill>
              <a:srgbClr val="E0D5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"/>
          <p:cNvSpPr/>
          <p:nvPr/>
        </p:nvSpPr>
        <p:spPr>
          <a:xfrm>
            <a:off x="6364224" y="245059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E1B18"/>
                </a:solidFill>
                <a:latin typeface="Arial"/>
                <a:ea typeface="Arial"/>
                <a:cs typeface="Arial"/>
                <a:sym typeface="Arial"/>
              </a:rPr>
              <a:t>Aspetti legali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6364224" y="2724912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25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C6258"/>
                </a:solidFill>
                <a:latin typeface="Arial"/>
                <a:ea typeface="Arial"/>
                <a:cs typeface="Arial"/>
                <a:sym typeface="Arial"/>
              </a:rPr>
              <a:t>Privacy, cookie e condizioni prima della pubblicazione.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6108192" y="3300984"/>
            <a:ext cx="470916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12700">
            <a:solidFill>
              <a:srgbClr val="E0D5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"/>
          <p:cNvSpPr/>
          <p:nvPr/>
        </p:nvSpPr>
        <p:spPr>
          <a:xfrm>
            <a:off x="6364224" y="3419856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E1B18"/>
                </a:solidFill>
                <a:latin typeface="Arial"/>
                <a:ea typeface="Arial"/>
                <a:cs typeface="Arial"/>
                <a:sym typeface="Arial"/>
              </a:rPr>
              <a:t>Proposta economica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6364224" y="3694176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25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C6258"/>
                </a:solidFill>
                <a:latin typeface="Arial"/>
                <a:ea typeface="Arial"/>
                <a:cs typeface="Arial"/>
                <a:sym typeface="Arial"/>
              </a:rPr>
              <a:t>Separare analisi, realizzazione e manutenzione.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6537960" y="4544568"/>
            <a:ext cx="4535424" cy="1380744"/>
          </a:xfrm>
          <a:prstGeom prst="roundRect">
            <a:avLst>
              <a:gd fmla="val 5298" name="adj"/>
            </a:avLst>
          </a:prstGeom>
          <a:solidFill>
            <a:srgbClr val="FFFFFF"/>
          </a:solidFill>
          <a:ln cap="flat" cmpd="sng" w="12700">
            <a:solidFill>
              <a:srgbClr val="E0D5C8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0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deck_assets/lavori_short.png" id="176" name="Google Shape;17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65392" y="4572000"/>
            <a:ext cx="4480560" cy="1325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0"/>
          <p:cNvSpPr/>
          <p:nvPr/>
        </p:nvSpPr>
        <p:spPr>
          <a:xfrm>
            <a:off x="566928" y="647395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17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8B8177"/>
                </a:solidFill>
                <a:latin typeface="Arial"/>
                <a:ea typeface="Arial"/>
                <a:cs typeface="Arial"/>
                <a:sym typeface="Arial"/>
              </a:rPr>
              <a:t>Concept Project #001 · Posso Farlo Io · 8/9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5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5"/>
          </a:solidFill>
          <a:ln cap="flat" cmpd="sng" w="12700">
            <a:solidFill>
              <a:srgbClr val="FFFB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"/>
          <p:cNvSpPr/>
          <p:nvPr/>
        </p:nvSpPr>
        <p:spPr>
          <a:xfrm>
            <a:off x="566928" y="38404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6B1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D86B1F"/>
                </a:solidFill>
                <a:latin typeface="Arial"/>
                <a:ea typeface="Arial"/>
                <a:cs typeface="Arial"/>
                <a:sym typeface="Arial"/>
              </a:rPr>
              <a:t>PROSSIMI PASSI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566928" y="749808"/>
            <a:ext cx="704088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E1B18"/>
                </a:solidFill>
                <a:latin typeface="Play"/>
                <a:ea typeface="Play"/>
                <a:cs typeface="Play"/>
                <a:sym typeface="Play"/>
              </a:rPr>
              <a:t>Decisione semplice: validare, correggere, poi eventualmente pubblicare.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713232" y="1901952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6B1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D86B1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713232" y="2496312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1B18"/>
                </a:solidFill>
                <a:latin typeface="Arial"/>
                <a:ea typeface="Arial"/>
                <a:cs typeface="Arial"/>
                <a:sym typeface="Arial"/>
              </a:rPr>
              <a:t>Confronto con Francesco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713232" y="2944368"/>
            <a:ext cx="3108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258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6C6258"/>
                </a:solidFill>
                <a:latin typeface="Arial"/>
                <a:ea typeface="Arial"/>
                <a:cs typeface="Arial"/>
                <a:sym typeface="Arial"/>
              </a:rPr>
              <a:t>Mostrare concept, case study e logica del lavoro.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4416552" y="1901952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6B1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D86B1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4416552" y="2496312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1B18"/>
                </a:solidFill>
                <a:latin typeface="Arial"/>
                <a:ea typeface="Arial"/>
                <a:cs typeface="Arial"/>
                <a:sym typeface="Arial"/>
              </a:rPr>
              <a:t>Raccolta contenuti reali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4416552" y="2944368"/>
            <a:ext cx="3108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258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6C6258"/>
                </a:solidFill>
                <a:latin typeface="Arial"/>
                <a:ea typeface="Arial"/>
                <a:cs typeface="Arial"/>
                <a:sym typeface="Arial"/>
              </a:rPr>
              <a:t>Foto, servizi, testi, recapiti e priorità.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8119872" y="1901952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6B1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D86B1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8119872" y="2496312"/>
            <a:ext cx="3017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1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1B18"/>
                </a:solidFill>
                <a:latin typeface="Arial"/>
                <a:ea typeface="Arial"/>
                <a:cs typeface="Arial"/>
                <a:sym typeface="Arial"/>
              </a:rPr>
              <a:t>Proposta separata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8119872" y="2944368"/>
            <a:ext cx="3108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6258"/>
              </a:buClr>
              <a:buSzPts val="1180"/>
              <a:buFont typeface="Arial"/>
              <a:buNone/>
            </a:pPr>
            <a:r>
              <a:rPr b="0" i="0" lang="en-US" sz="1180" u="none" cap="none" strike="noStrike">
                <a:solidFill>
                  <a:srgbClr val="6C6258"/>
                </a:solidFill>
                <a:latin typeface="Arial"/>
                <a:ea typeface="Arial"/>
                <a:cs typeface="Arial"/>
                <a:sym typeface="Arial"/>
              </a:rPr>
              <a:t>Definire eventuale costo di pubblicazione e manutenzione.</a:t>
            </a:r>
            <a:endParaRPr b="0" i="0" sz="11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685800" y="4069080"/>
            <a:ext cx="4626864" cy="1655064"/>
          </a:xfrm>
          <a:prstGeom prst="roundRect">
            <a:avLst>
              <a:gd fmla="val 4420" name="adj"/>
            </a:avLst>
          </a:prstGeom>
          <a:solidFill>
            <a:srgbClr val="FFFFFF"/>
          </a:solidFill>
          <a:ln cap="flat" cmpd="sng" w="12700">
            <a:solidFill>
              <a:srgbClr val="E0D5C8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0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deck_assets/contatti_short.png" id="196" name="Google Shape;19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232" y="4096512"/>
            <a:ext cx="4572000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1"/>
          <p:cNvSpPr/>
          <p:nvPr/>
        </p:nvSpPr>
        <p:spPr>
          <a:xfrm>
            <a:off x="5715000" y="4069080"/>
            <a:ext cx="5358384" cy="1655064"/>
          </a:xfrm>
          <a:prstGeom prst="roundRect">
            <a:avLst>
              <a:gd fmla="val 4420" name="adj"/>
            </a:avLst>
          </a:prstGeom>
          <a:solidFill>
            <a:srgbClr val="FFFFFF"/>
          </a:solidFill>
          <a:ln cap="flat" cmpd="sng" w="12700">
            <a:solidFill>
              <a:srgbClr val="E0D5C8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0">
              <a:srgbClr val="000000">
                <a:alpha val="109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deck_assets/hero_wide.png" id="198" name="Google Shape;19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42432" y="4096512"/>
            <a:ext cx="5303520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1"/>
          <p:cNvSpPr/>
          <p:nvPr/>
        </p:nvSpPr>
        <p:spPr>
          <a:xfrm>
            <a:off x="713232" y="6016752"/>
            <a:ext cx="10058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5C45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335C45"/>
                </a:solidFill>
                <a:latin typeface="Arial"/>
                <a:ea typeface="Arial"/>
                <a:cs typeface="Arial"/>
                <a:sym typeface="Arial"/>
              </a:rPr>
              <a:t>Obiettivo: capire se esiste interesse reale prima di investire altro tempo.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566928" y="647395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817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8B8177"/>
                </a:solidFill>
                <a:latin typeface="Arial"/>
                <a:ea typeface="Arial"/>
                <a:cs typeface="Arial"/>
                <a:sym typeface="Arial"/>
              </a:rPr>
              <a:t>Concept Project #001 · Posso Farlo Io · 9/9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